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9"/>
  </p:notesMasterIdLst>
  <p:sldIdLst>
    <p:sldId id="256" r:id="rId2"/>
    <p:sldId id="257" r:id="rId3"/>
    <p:sldId id="267" r:id="rId4"/>
    <p:sldId id="273" r:id="rId5"/>
    <p:sldId id="260" r:id="rId6"/>
    <p:sldId id="277" r:id="rId7"/>
    <p:sldId id="261" r:id="rId8"/>
    <p:sldId id="263" r:id="rId9"/>
    <p:sldId id="268" r:id="rId10"/>
    <p:sldId id="270" r:id="rId11"/>
    <p:sldId id="271" r:id="rId12"/>
    <p:sldId id="275" r:id="rId13"/>
    <p:sldId id="274" r:id="rId14"/>
    <p:sldId id="276" r:id="rId15"/>
    <p:sldId id="272" r:id="rId16"/>
    <p:sldId id="269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A"/>
    <a:srgbClr val="C42712"/>
    <a:srgbClr val="CC0000"/>
    <a:srgbClr val="6F6F74"/>
    <a:srgbClr val="ECE9D8"/>
    <a:srgbClr val="060600"/>
    <a:srgbClr val="0165FB"/>
    <a:srgbClr val="001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5147" autoAdjust="0"/>
  </p:normalViewPr>
  <p:slideViewPr>
    <p:cSldViewPr snapToGrid="0">
      <p:cViewPr varScale="1">
        <p:scale>
          <a:sx n="62" d="100"/>
          <a:sy n="62" d="100"/>
        </p:scale>
        <p:origin x="5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73CE4-C353-4E05-8155-37949B8FE1BD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D2CE7-A363-48F9-B510-8B38ADD04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08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D2CE7-A363-48F9-B510-8B38ADD04FB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1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5731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28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023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8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80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44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28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35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32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35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903AB70-43C1-4342-BE29-04EE59C9873C}" type="datetimeFigureOut">
              <a:rPr lang="ru-RU" smtClean="0"/>
              <a:t>16.04.2023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8209F91-A986-4F9F-B17B-5FB25BFC65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42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>
            <a:extLst>
              <a:ext uri="{FF2B5EF4-FFF2-40B4-BE49-F238E27FC236}">
                <a16:creationId xmlns:a16="http://schemas.microsoft.com/office/drawing/2014/main" id="{B7433AC3-A6CF-4B0D-B855-7044217653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66" r="15922"/>
          <a:stretch/>
        </p:blipFill>
        <p:spPr>
          <a:xfrm>
            <a:off x="4312920" y="0"/>
            <a:ext cx="7879080" cy="6934200"/>
          </a:xfrm>
          <a:prstGeom prst="rect">
            <a:avLst/>
          </a:prstGeom>
          <a:solidFill>
            <a:schemeClr val="bg1">
              <a:lumMod val="50000"/>
              <a:lumOff val="50000"/>
              <a:alpha val="45000"/>
            </a:schemeClr>
          </a:solidFill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91312" y="758952"/>
            <a:ext cx="9418320" cy="4041648"/>
          </a:xfrm>
        </p:spPr>
        <p:txBody>
          <a:bodyPr/>
          <a:lstStyle/>
          <a:p>
            <a:pPr algn="l"/>
            <a:r>
              <a:rPr lang="ru-RU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Компьютерный вирус</a:t>
            </a:r>
            <a:br>
              <a:rPr lang="ru-RU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Michelangelo </a:t>
            </a: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(«March6»)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1312" y="4175760"/>
            <a:ext cx="9418320" cy="1691640"/>
          </a:xfrm>
        </p:spPr>
        <p:txBody>
          <a:bodyPr>
            <a:normAutofit/>
          </a:bodyPr>
          <a:lstStyle/>
          <a:p>
            <a:pPr algn="l"/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Презентацию подготовила </a:t>
            </a:r>
          </a:p>
          <a:p>
            <a:pPr algn="l"/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ченица 10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класса </a:t>
            </a:r>
          </a:p>
          <a:p>
            <a:pPr algn="l"/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Королева Екатерина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671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4651" y="1386842"/>
            <a:ext cx="8595360" cy="4351337"/>
          </a:xfrm>
        </p:spPr>
        <p:txBody>
          <a:bodyPr>
            <a:noAutofit/>
          </a:bodyPr>
          <a:lstStyle/>
          <a:p>
            <a:r>
              <a:rPr lang="ru-RU" sz="2000" b="1" dirty="0">
                <a:solidFill>
                  <a:schemeClr val="bg2">
                    <a:lumMod val="25000"/>
                  </a:schemeClr>
                </a:solidFill>
              </a:rPr>
              <a:t>Вирус </a:t>
            </a:r>
            <a:r>
              <a:rPr lang="ru-RU" sz="2000" b="1" dirty="0" err="1">
                <a:solidFill>
                  <a:schemeClr val="bg2">
                    <a:lumMod val="25000"/>
                  </a:schemeClr>
                </a:solidFill>
              </a:rPr>
              <a:t>Michelangelo</a:t>
            </a:r>
            <a:r>
              <a:rPr lang="ru-RU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появился в начале 1990-х годов, в то время, когда персональные компьютеры становились все более популярными. В первую очередь вирус </a:t>
            </a:r>
            <a:r>
              <a:rPr lang="ru-RU" sz="2000" u="sng" dirty="0">
                <a:solidFill>
                  <a:schemeClr val="bg2">
                    <a:lumMod val="25000"/>
                  </a:schemeClr>
                </a:solidFill>
              </a:rPr>
              <a:t>поражал IBM-совместимые компьютеры под управлением операционной системы DOS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, которая в то время была доминирующей операционной системой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В этот период Интернет находился на ранней стадии развития, и большинство компьютеров не были подключены к сети. Вместо этого пользователи </a:t>
            </a:r>
            <a:r>
              <a:rPr lang="ru-RU" sz="2000" u="sng" dirty="0">
                <a:solidFill>
                  <a:schemeClr val="bg2">
                    <a:lumMod val="25000"/>
                  </a:schemeClr>
                </a:solidFill>
              </a:rPr>
              <a:t>использовали дискеты для обмена файлами и программным обеспечением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endParaRPr lang="ru-RU" sz="2000" dirty="0" smtClean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ru-RU" sz="2000" b="1" dirty="0">
                <a:solidFill>
                  <a:schemeClr val="bg2">
                    <a:lumMod val="25000"/>
                  </a:schemeClr>
                </a:solidFill>
              </a:rPr>
              <a:t>Вирус </a:t>
            </a:r>
            <a:r>
              <a:rPr lang="ru-RU" sz="2000" b="1" dirty="0" err="1">
                <a:solidFill>
                  <a:schemeClr val="bg2">
                    <a:lumMod val="25000"/>
                  </a:schemeClr>
                </a:solidFill>
              </a:rPr>
              <a:t>Michelangelo</a:t>
            </a:r>
            <a:r>
              <a:rPr lang="ru-RU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появился в то время, когда </a:t>
            </a:r>
            <a:r>
              <a:rPr lang="ru-RU" sz="2000" u="sng" dirty="0">
                <a:solidFill>
                  <a:schemeClr val="bg2">
                    <a:lumMod val="25000"/>
                  </a:schemeClr>
                </a:solidFill>
              </a:rPr>
              <a:t>антивирусные программы не были широко доступны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, и пользователям приходилось полагаться на ручные методы удаления вирусов. Кроме того, осведомленность об угрозе компьютерных вирусов была ограниченной, и многие пользователи не знали, как защитить свои системы.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История вируса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7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Группа 25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4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5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12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3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 smtClean="0"/>
                    <a:t>MBR</a:t>
                  </a:r>
                  <a:endParaRPr lang="en-US" b="1" dirty="0"/>
                </a:p>
              </p:txBody>
            </p:sp>
            <p:sp>
              <p:nvSpPr>
                <p:cNvPr id="14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15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16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18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19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0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1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22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23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8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9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24" name="Правая фигурная скобка 23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авая фигурная скобка 24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FD710FB8-5834-4831-A243-2E703A26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9" y="3260910"/>
            <a:ext cx="4145366" cy="27550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8227B1B-BF82-4BAC-A42C-0A43DFFF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025" y="5077553"/>
            <a:ext cx="1374207" cy="86727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0B8A0B-23AE-4E68-8BDE-BC65A20C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956" y="3933070"/>
            <a:ext cx="1619882" cy="1516525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14FE0B9-58EC-4545-B8D7-1F8B38236D8E}"/>
              </a:ext>
            </a:extLst>
          </p:cNvPr>
          <p:cNvSpPr/>
          <p:nvPr/>
        </p:nvSpPr>
        <p:spPr>
          <a:xfrm>
            <a:off x="3711921" y="2281473"/>
            <a:ext cx="3585172" cy="2489703"/>
          </a:xfrm>
          <a:custGeom>
            <a:avLst/>
            <a:gdLst>
              <a:gd name="connsiteX0" fmla="*/ 0 w 3585172"/>
              <a:gd name="connsiteY0" fmla="*/ 2489703 h 2489703"/>
              <a:gd name="connsiteX1" fmla="*/ 2281473 w 3585172"/>
              <a:gd name="connsiteY1" fmla="*/ 1810693 h 2489703"/>
              <a:gd name="connsiteX2" fmla="*/ 3150606 w 3585172"/>
              <a:gd name="connsiteY2" fmla="*/ 325925 h 2489703"/>
              <a:gd name="connsiteX3" fmla="*/ 3585172 w 3585172"/>
              <a:gd name="connsiteY3" fmla="*/ 0 h 248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172" h="2489703">
                <a:moveTo>
                  <a:pt x="0" y="2489703"/>
                </a:moveTo>
                <a:cubicBezTo>
                  <a:pt x="878186" y="2330513"/>
                  <a:pt x="1756372" y="2171323"/>
                  <a:pt x="2281473" y="1810693"/>
                </a:cubicBezTo>
                <a:cubicBezTo>
                  <a:pt x="2806574" y="1450063"/>
                  <a:pt x="2933323" y="627707"/>
                  <a:pt x="3150606" y="325925"/>
                </a:cubicBezTo>
                <a:cubicBezTo>
                  <a:pt x="3367889" y="24143"/>
                  <a:pt x="3493129" y="51303"/>
                  <a:pt x="358517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1683" y="1342622"/>
            <a:ext cx="540537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Когда пользователь вставлял зараженную дискету в свой компьютер, вирус заражал загрузочный сектор компьютера - часть жесткого диска, содержащую файлы операционной системы</a:t>
            </a:r>
          </a:p>
          <a:p>
            <a:endParaRPr lang="ru-RU" dirty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Заражение вирусом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19235" y="670560"/>
            <a:ext cx="2036877" cy="495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ДИСК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ая выноска 6"/>
          <p:cNvSpPr/>
          <p:nvPr/>
        </p:nvSpPr>
        <p:spPr>
          <a:xfrm>
            <a:off x="3048525" y="3780196"/>
            <a:ext cx="1865870" cy="939114"/>
          </a:xfrm>
          <a:prstGeom prst="wedgeRectCallout">
            <a:avLst>
              <a:gd name="adj1" fmla="val -48648"/>
              <a:gd name="adj2" fmla="val 9144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Вставьте дискету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02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Группа 25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4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5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12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3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 smtClean="0"/>
                    <a:t>MBR</a:t>
                  </a:r>
                  <a:endParaRPr lang="en-US" b="1" dirty="0"/>
                </a:p>
              </p:txBody>
            </p:sp>
            <p:sp>
              <p:nvSpPr>
                <p:cNvPr id="14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15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16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18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19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0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1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22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23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8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9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24" name="Правая фигурная скобка 23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авая фигурная скобка 24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FD710FB8-5834-4831-A243-2E703A26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9" y="3260910"/>
            <a:ext cx="4145366" cy="27550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8227B1B-BF82-4BAC-A42C-0A43DFFF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025" y="5077553"/>
            <a:ext cx="1374207" cy="86727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0B8A0B-23AE-4E68-8BDE-BC65A20C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956" y="3933070"/>
            <a:ext cx="1619882" cy="1516525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14FE0B9-58EC-4545-B8D7-1F8B38236D8E}"/>
              </a:ext>
            </a:extLst>
          </p:cNvPr>
          <p:cNvSpPr/>
          <p:nvPr/>
        </p:nvSpPr>
        <p:spPr>
          <a:xfrm>
            <a:off x="3711921" y="2281473"/>
            <a:ext cx="3585172" cy="2489703"/>
          </a:xfrm>
          <a:custGeom>
            <a:avLst/>
            <a:gdLst>
              <a:gd name="connsiteX0" fmla="*/ 0 w 3585172"/>
              <a:gd name="connsiteY0" fmla="*/ 2489703 h 2489703"/>
              <a:gd name="connsiteX1" fmla="*/ 2281473 w 3585172"/>
              <a:gd name="connsiteY1" fmla="*/ 1810693 h 2489703"/>
              <a:gd name="connsiteX2" fmla="*/ 3150606 w 3585172"/>
              <a:gd name="connsiteY2" fmla="*/ 325925 h 2489703"/>
              <a:gd name="connsiteX3" fmla="*/ 3585172 w 3585172"/>
              <a:gd name="connsiteY3" fmla="*/ 0 h 248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172" h="2489703">
                <a:moveTo>
                  <a:pt x="0" y="2489703"/>
                </a:moveTo>
                <a:cubicBezTo>
                  <a:pt x="878186" y="2330513"/>
                  <a:pt x="1756372" y="2171323"/>
                  <a:pt x="2281473" y="1810693"/>
                </a:cubicBezTo>
                <a:cubicBezTo>
                  <a:pt x="2806574" y="1450063"/>
                  <a:pt x="2933323" y="627707"/>
                  <a:pt x="3150606" y="325925"/>
                </a:cubicBezTo>
                <a:cubicBezTo>
                  <a:pt x="3367889" y="24143"/>
                  <a:pt x="3493129" y="51303"/>
                  <a:pt x="358517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1832981-2025-4ABC-97A6-BE7FBBD00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374" y="4405979"/>
            <a:ext cx="671574" cy="671574"/>
          </a:xfrm>
          <a:prstGeom prst="rect">
            <a:avLst/>
          </a:prstGeom>
        </p:spPr>
      </p:pic>
      <p:sp>
        <p:nvSpPr>
          <p:cNvPr id="71" name="Rectangle 6">
            <a:extLst>
              <a:ext uri="{FF2B5EF4-FFF2-40B4-BE49-F238E27FC236}">
                <a16:creationId xmlns:a16="http://schemas.microsoft.com/office/drawing/2014/main" id="{EAC00582-6CD3-4532-9FB9-8285954A6F42}"/>
              </a:ext>
            </a:extLst>
          </p:cNvPr>
          <p:cNvSpPr/>
          <p:nvPr/>
        </p:nvSpPr>
        <p:spPr>
          <a:xfrm>
            <a:off x="7413458" y="2071487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7C80"/>
                </a:solidFill>
              </a:rPr>
              <a:t>Boot</a:t>
            </a:r>
            <a:r>
              <a:rPr lang="ru-RU" dirty="0">
                <a:solidFill>
                  <a:srgbClr val="FF7C80"/>
                </a:solidFill>
              </a:rPr>
              <a:t> секция*</a:t>
            </a:r>
            <a:endParaRPr lang="en-US" dirty="0">
              <a:solidFill>
                <a:srgbClr val="FF7C80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1683" y="1342622"/>
            <a:ext cx="540537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</a:rPr>
              <a:t>Когда пользователь вставлял зараженную дискету в свой компьютер, вирус заражал загрузочный сектор компьютера - часть жесткого диска, содержащую файлы операционной системы</a:t>
            </a:r>
          </a:p>
          <a:p>
            <a:endParaRPr lang="ru-RU" dirty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Заражение вирусом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19235" y="670560"/>
            <a:ext cx="2036877" cy="495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ДИСК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51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22222E-6 L 0.03711 -0.087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0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026 0.00047 L 0.04414 -0.01018 L 0.10651 -0.03657 L 0.16602 -0.075 L 0.20313 -0.12384 L 0.22461 -0.18588 L 0.2388 -0.24514 L 0.25286 -0.2993 L 0.26927 -0.33889 L 0.28633 -0.35463 L 0.29453 -0.35856 " pathEditMode="relative" ptsTypes="AAAAAAAAAAA">
                                      <p:cBhvr>
                                        <p:cTn id="13" dur="4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5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/>
          <p:cNvGrpSpPr/>
          <p:nvPr/>
        </p:nvGrpSpPr>
        <p:grpSpPr>
          <a:xfrm>
            <a:off x="994651" y="1515316"/>
            <a:ext cx="4376002" cy="4636628"/>
            <a:chOff x="994651" y="1515316"/>
            <a:chExt cx="4376002" cy="4636628"/>
          </a:xfrm>
        </p:grpSpPr>
        <p:grpSp>
          <p:nvGrpSpPr>
            <p:cNvPr id="10" name="Группа 9"/>
            <p:cNvGrpSpPr/>
            <p:nvPr/>
          </p:nvGrpSpPr>
          <p:grpSpPr>
            <a:xfrm>
              <a:off x="994651" y="1767840"/>
              <a:ext cx="4376002" cy="4384104"/>
              <a:chOff x="670560" y="-507871"/>
              <a:chExt cx="6654800" cy="7365871"/>
            </a:xfrm>
          </p:grpSpPr>
          <p:sp>
            <p:nvSpPr>
              <p:cNvPr id="9" name="Прямоугольник 8"/>
              <p:cNvSpPr/>
              <p:nvPr/>
            </p:nvSpPr>
            <p:spPr>
              <a:xfrm>
                <a:off x="670560" y="-507871"/>
                <a:ext cx="6654800" cy="736587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8" name="Рисунок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8857" y="563972"/>
                <a:ext cx="5978208" cy="6024695"/>
              </a:xfrm>
              <a:prstGeom prst="rect">
                <a:avLst/>
              </a:prstGeom>
            </p:spPr>
          </p:pic>
        </p:grpSp>
        <p:sp>
          <p:nvSpPr>
            <p:cNvPr id="13" name="Прямоугольник 12"/>
            <p:cNvSpPr/>
            <p:nvPr/>
          </p:nvSpPr>
          <p:spPr>
            <a:xfrm>
              <a:off x="1226820" y="2050930"/>
              <a:ext cx="392138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1992</a:t>
              </a:r>
              <a:endPara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1706880" y="1516380"/>
              <a:ext cx="312420" cy="79248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351020" y="1515316"/>
              <a:ext cx="312420" cy="79248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2355882" y="2508130"/>
              <a:ext cx="1653540" cy="417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Март</a:t>
              </a:r>
              <a:endParaRPr lang="ru-RU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Прямоугольный треугольник 14"/>
            <p:cNvSpPr/>
            <p:nvPr/>
          </p:nvSpPr>
          <p:spPr>
            <a:xfrm>
              <a:off x="1217105" y="5364333"/>
              <a:ext cx="647700" cy="627306"/>
            </a:xfrm>
            <a:prstGeom prst="rtTriangl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ый треугольник 15"/>
            <p:cNvSpPr/>
            <p:nvPr/>
          </p:nvSpPr>
          <p:spPr>
            <a:xfrm>
              <a:off x="1228535" y="5364333"/>
              <a:ext cx="636270" cy="642399"/>
            </a:xfrm>
            <a:prstGeom prst="rtTriangle">
              <a:avLst/>
            </a:prstGeom>
            <a:solidFill>
              <a:schemeClr val="bg1"/>
            </a:solidFill>
            <a:scene3d>
              <a:camera prst="orthographicFront">
                <a:rot lat="10800000" lon="108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5" name="Рамка 24"/>
          <p:cNvSpPr/>
          <p:nvPr/>
        </p:nvSpPr>
        <p:spPr>
          <a:xfrm>
            <a:off x="3029712" y="3627070"/>
            <a:ext cx="586740" cy="554526"/>
          </a:xfrm>
          <a:prstGeom prst="fram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8172" y="1515316"/>
            <a:ext cx="4803494" cy="508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5680131" y="1664102"/>
            <a:ext cx="50715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25000"/>
                  </a:schemeClr>
                </a:solidFill>
              </a:rPr>
              <a:t>Вирус </a:t>
            </a:r>
            <a:r>
              <a:rPr lang="ru-RU" sz="2400" dirty="0" err="1">
                <a:solidFill>
                  <a:schemeClr val="bg2">
                    <a:lumMod val="25000"/>
                  </a:schemeClr>
                </a:solidFill>
              </a:rPr>
              <a:t>Michelangelo</a:t>
            </a:r>
            <a:r>
              <a:rPr lang="ru-RU" sz="2400" dirty="0">
                <a:solidFill>
                  <a:schemeClr val="bg2">
                    <a:lumMod val="25000"/>
                  </a:schemeClr>
                </a:solidFill>
              </a:rPr>
              <a:t> был разработан для активации 6 марта, в день рождения Микеланджело. В этот день вирус активируется и перезаписывает часть жесткого диска, делая компьютер неработоспособным</a:t>
            </a:r>
            <a:r>
              <a:rPr lang="ru-RU" sz="2400" dirty="0" smtClean="0">
                <a:solidFill>
                  <a:schemeClr val="bg2">
                    <a:lumMod val="25000"/>
                  </a:schemeClr>
                </a:solidFill>
              </a:rPr>
              <a:t>..</a:t>
            </a:r>
            <a:endParaRPr lang="ru-RU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Дата создания</a:t>
            </a:r>
            <a:endParaRPr lang="ru-RU" dirty="0"/>
          </a:p>
        </p:txBody>
      </p:sp>
      <p:sp>
        <p:nvSpPr>
          <p:cNvPr id="29" name="Прямоугольная выноска 28"/>
          <p:cNvSpPr/>
          <p:nvPr/>
        </p:nvSpPr>
        <p:spPr>
          <a:xfrm>
            <a:off x="3287210" y="4636266"/>
            <a:ext cx="1748925" cy="896434"/>
          </a:xfrm>
          <a:prstGeom prst="wedgeRectCallout">
            <a:avLst>
              <a:gd name="adj1" fmla="val -35698"/>
              <a:gd name="adj2" fmla="val -8083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Перелистните</a:t>
            </a:r>
          </a:p>
          <a:p>
            <a:pPr algn="ctr"/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календарь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Овал 1">
            <a:hlinkClick r:id="" action="ppaction://hlinkshowjump?jump=nextslide"/>
          </p:cNvPr>
          <p:cNvSpPr/>
          <p:nvPr/>
        </p:nvSpPr>
        <p:spPr>
          <a:xfrm>
            <a:off x="2858357" y="3460303"/>
            <a:ext cx="929450" cy="88806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388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/>
          <p:cNvGrpSpPr/>
          <p:nvPr/>
        </p:nvGrpSpPr>
        <p:grpSpPr>
          <a:xfrm>
            <a:off x="994651" y="1515316"/>
            <a:ext cx="4376002" cy="4636628"/>
            <a:chOff x="994651" y="1515316"/>
            <a:chExt cx="4376002" cy="4636628"/>
          </a:xfrm>
        </p:grpSpPr>
        <p:grpSp>
          <p:nvGrpSpPr>
            <p:cNvPr id="10" name="Группа 9"/>
            <p:cNvGrpSpPr/>
            <p:nvPr/>
          </p:nvGrpSpPr>
          <p:grpSpPr>
            <a:xfrm>
              <a:off x="994651" y="1767840"/>
              <a:ext cx="4376002" cy="4384104"/>
              <a:chOff x="670560" y="-507871"/>
              <a:chExt cx="6654800" cy="7365871"/>
            </a:xfrm>
          </p:grpSpPr>
          <p:sp>
            <p:nvSpPr>
              <p:cNvPr id="9" name="Прямоугольник 8"/>
              <p:cNvSpPr/>
              <p:nvPr/>
            </p:nvSpPr>
            <p:spPr>
              <a:xfrm>
                <a:off x="670560" y="-507871"/>
                <a:ext cx="6654800" cy="736587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8" name="Рисунок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8857" y="563972"/>
                <a:ext cx="5978208" cy="6024695"/>
              </a:xfrm>
              <a:prstGeom prst="rect">
                <a:avLst/>
              </a:prstGeom>
            </p:spPr>
          </p:pic>
        </p:grpSp>
        <p:sp>
          <p:nvSpPr>
            <p:cNvPr id="13" name="Прямоугольник 12"/>
            <p:cNvSpPr/>
            <p:nvPr/>
          </p:nvSpPr>
          <p:spPr>
            <a:xfrm>
              <a:off x="1226820" y="2050930"/>
              <a:ext cx="392138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1992</a:t>
              </a:r>
              <a:endPara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1706880" y="1516380"/>
              <a:ext cx="312420" cy="79248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4351020" y="1515316"/>
              <a:ext cx="312420" cy="79248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2355882" y="2508130"/>
              <a:ext cx="1653540" cy="417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Март</a:t>
              </a:r>
              <a:endParaRPr lang="ru-RU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Прямоугольный треугольник 14"/>
            <p:cNvSpPr/>
            <p:nvPr/>
          </p:nvSpPr>
          <p:spPr>
            <a:xfrm>
              <a:off x="1217105" y="5364333"/>
              <a:ext cx="647700" cy="627306"/>
            </a:xfrm>
            <a:prstGeom prst="rtTriangl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ый треугольник 15"/>
            <p:cNvSpPr/>
            <p:nvPr/>
          </p:nvSpPr>
          <p:spPr>
            <a:xfrm>
              <a:off x="1228535" y="5364333"/>
              <a:ext cx="636270" cy="642399"/>
            </a:xfrm>
            <a:prstGeom prst="rtTriangle">
              <a:avLst/>
            </a:prstGeom>
            <a:solidFill>
              <a:schemeClr val="bg1"/>
            </a:solidFill>
            <a:scene3d>
              <a:camera prst="orthographicFront">
                <a:rot lat="10800000" lon="108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5" name="Рамка 24"/>
          <p:cNvSpPr/>
          <p:nvPr/>
        </p:nvSpPr>
        <p:spPr>
          <a:xfrm>
            <a:off x="3029712" y="3627070"/>
            <a:ext cx="586740" cy="554526"/>
          </a:xfrm>
          <a:prstGeom prst="fram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8172" y="1515316"/>
            <a:ext cx="4803494" cy="508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5680131" y="1664102"/>
            <a:ext cx="50715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25000"/>
                  </a:schemeClr>
                </a:solidFill>
              </a:rPr>
              <a:t>Вирус </a:t>
            </a:r>
            <a:r>
              <a:rPr lang="ru-RU" sz="2400" dirty="0" err="1">
                <a:solidFill>
                  <a:schemeClr val="bg2">
                    <a:lumMod val="25000"/>
                  </a:schemeClr>
                </a:solidFill>
              </a:rPr>
              <a:t>Michelangelo</a:t>
            </a:r>
            <a:r>
              <a:rPr lang="ru-RU" sz="2400" dirty="0">
                <a:solidFill>
                  <a:schemeClr val="bg2">
                    <a:lumMod val="25000"/>
                  </a:schemeClr>
                </a:solidFill>
              </a:rPr>
              <a:t> был разработан для активации 6 марта, в день рождения Микеланджело. В этот день вирус активируется и перезаписывает часть жесткого диска, делая компьютер неработоспособным</a:t>
            </a:r>
            <a:r>
              <a:rPr lang="ru-RU" sz="2400" dirty="0" smtClean="0">
                <a:solidFill>
                  <a:schemeClr val="bg2">
                    <a:lumMod val="25000"/>
                  </a:schemeClr>
                </a:solidFill>
              </a:rPr>
              <a:t>..</a:t>
            </a:r>
            <a:endParaRPr lang="ru-RU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Дата создания</a:t>
            </a:r>
            <a:endParaRPr lang="ru-RU" dirty="0"/>
          </a:p>
        </p:txBody>
      </p:sp>
      <p:sp>
        <p:nvSpPr>
          <p:cNvPr id="29" name="Прямоугольная выноска 28"/>
          <p:cNvSpPr/>
          <p:nvPr/>
        </p:nvSpPr>
        <p:spPr>
          <a:xfrm>
            <a:off x="3287210" y="4636266"/>
            <a:ext cx="1748925" cy="896434"/>
          </a:xfrm>
          <a:prstGeom prst="wedgeRectCallout">
            <a:avLst>
              <a:gd name="adj1" fmla="val -35698"/>
              <a:gd name="adj2" fmla="val -8083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Перелистните</a:t>
            </a:r>
          </a:p>
          <a:p>
            <a:pPr algn="ctr"/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календарь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87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95833E-6 -2.96296E-6 L 0.03841 0.000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1032221794502983762/1096819632704335983/imag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3" t="3129" r="6517" b="6892"/>
          <a:stretch/>
        </p:blipFill>
        <p:spPr bwMode="auto">
          <a:xfrm>
            <a:off x="294640" y="1717040"/>
            <a:ext cx="6339840" cy="47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>
            <a:extLst>
              <a:ext uri="{FF2B5EF4-FFF2-40B4-BE49-F238E27FC236}">
                <a16:creationId xmlns:a16="http://schemas.microsoft.com/office/drawing/2014/main" id="{A164BBE5-13A1-4C95-9418-97C2ADDBE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784" y="2308699"/>
            <a:ext cx="2360203" cy="2301144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3998437" y="4360988"/>
            <a:ext cx="367638" cy="377082"/>
            <a:chOff x="4653280" y="3779520"/>
            <a:chExt cx="279400" cy="284480"/>
          </a:xfrm>
        </p:grpSpPr>
        <p:sp>
          <p:nvSpPr>
            <p:cNvPr id="6" name="Овал 5"/>
            <p:cNvSpPr/>
            <p:nvPr/>
          </p:nvSpPr>
          <p:spPr>
            <a:xfrm>
              <a:off x="4653280" y="3779520"/>
              <a:ext cx="279400" cy="284480"/>
            </a:xfrm>
            <a:prstGeom prst="ellipse">
              <a:avLst/>
            </a:prstGeom>
            <a:solidFill>
              <a:srgbClr val="C4271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Кольцо 7"/>
            <p:cNvSpPr/>
            <p:nvPr/>
          </p:nvSpPr>
          <p:spPr>
            <a:xfrm>
              <a:off x="4686935" y="3815080"/>
              <a:ext cx="212090" cy="213360"/>
            </a:xfrm>
            <a:prstGeom prst="donut">
              <a:avLst>
                <a:gd name="adj" fmla="val 793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4755832" y="3815080"/>
              <a:ext cx="74295" cy="142875"/>
            </a:xfrm>
            <a:prstGeom prst="flowChartProcess">
              <a:avLst/>
            </a:prstGeom>
            <a:solidFill>
              <a:srgbClr val="C42712"/>
            </a:solidFill>
            <a:ln>
              <a:solidFill>
                <a:srgbClr val="C427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Блок-схема: процесс 10"/>
            <p:cNvSpPr/>
            <p:nvPr/>
          </p:nvSpPr>
          <p:spPr>
            <a:xfrm>
              <a:off x="4770119" y="3808094"/>
              <a:ext cx="45719" cy="11176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C427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Овал 12">
            <a:hlinkClick r:id="" action="ppaction://hlinkshowjump?jump=nextslide"/>
          </p:cNvPr>
          <p:cNvSpPr/>
          <p:nvPr/>
        </p:nvSpPr>
        <p:spPr>
          <a:xfrm>
            <a:off x="3886039" y="4253633"/>
            <a:ext cx="592430" cy="586741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chemeClr val="bg1">
                <a:alpha val="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8" name="Группа 57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59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62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65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66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/>
                    <a:t>MBR</a:t>
                  </a:r>
                </a:p>
              </p:txBody>
            </p:sp>
            <p:sp>
              <p:nvSpPr>
                <p:cNvPr id="67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68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69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70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71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72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73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74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75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76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63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64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60" name="Правая фигурная скобка 59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авая фигурная скобка 60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7" name="Rectangle 6">
            <a:extLst>
              <a:ext uri="{FF2B5EF4-FFF2-40B4-BE49-F238E27FC236}">
                <a16:creationId xmlns:a16="http://schemas.microsoft.com/office/drawing/2014/main" id="{EAC00582-6CD3-4532-9FB9-8285954A6F42}"/>
              </a:ext>
            </a:extLst>
          </p:cNvPr>
          <p:cNvSpPr/>
          <p:nvPr/>
        </p:nvSpPr>
        <p:spPr>
          <a:xfrm>
            <a:off x="7413458" y="2071487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7C80"/>
                </a:solidFill>
              </a:rPr>
              <a:t>Boot</a:t>
            </a:r>
            <a:r>
              <a:rPr lang="ru-RU" dirty="0">
                <a:solidFill>
                  <a:srgbClr val="FF7C80"/>
                </a:solidFill>
              </a:rPr>
              <a:t> секция*</a:t>
            </a:r>
            <a:endParaRPr lang="en-US" dirty="0">
              <a:solidFill>
                <a:srgbClr val="FF7C80"/>
              </a:solidFill>
            </a:endParaRPr>
          </a:p>
        </p:txBody>
      </p:sp>
      <p:pic>
        <p:nvPicPr>
          <p:cNvPr id="78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79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19" name="Прямоугольная выноска 18"/>
          <p:cNvSpPr/>
          <p:nvPr/>
        </p:nvSpPr>
        <p:spPr>
          <a:xfrm>
            <a:off x="3577820" y="2767399"/>
            <a:ext cx="2132878" cy="1121325"/>
          </a:xfrm>
          <a:prstGeom prst="wedgeRectCallout">
            <a:avLst>
              <a:gd name="adj1" fmla="val -19748"/>
              <a:gd name="adj2" fmla="val 728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bg2">
                    <a:lumMod val="25000"/>
                  </a:schemeClr>
                </a:solidFill>
              </a:rPr>
              <a:t>Включите</a:t>
            </a:r>
          </a:p>
          <a:p>
            <a:pPr algn="ctr"/>
            <a:r>
              <a:rPr lang="ru-RU" sz="2400" dirty="0" smtClean="0">
                <a:solidFill>
                  <a:schemeClr val="bg2">
                    <a:lumMod val="25000"/>
                  </a:schemeClr>
                </a:solidFill>
              </a:rPr>
              <a:t>компьютер</a:t>
            </a:r>
            <a:endParaRPr lang="ru-RU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4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Полезная нагрузка</a:t>
            </a:r>
            <a:endParaRPr lang="ru-RU" dirty="0"/>
          </a:p>
        </p:txBody>
      </p:sp>
      <p:sp>
        <p:nvSpPr>
          <p:cNvPr id="87" name="Прямоугольник 86"/>
          <p:cNvSpPr/>
          <p:nvPr/>
        </p:nvSpPr>
        <p:spPr>
          <a:xfrm>
            <a:off x="7319235" y="670560"/>
            <a:ext cx="2036877" cy="495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ДИСК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27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1032221794502983762/1096819632704335983/imag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8" t="3361" r="3889" b="4870"/>
          <a:stretch/>
        </p:blipFill>
        <p:spPr bwMode="auto">
          <a:xfrm>
            <a:off x="228600" y="1729408"/>
            <a:ext cx="6599584" cy="48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A164BBE5-13A1-4C95-9418-97C2ADDBE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784" y="2308699"/>
            <a:ext cx="2360203" cy="2301144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3998437" y="4360988"/>
            <a:ext cx="367638" cy="377082"/>
            <a:chOff x="4653280" y="3779520"/>
            <a:chExt cx="279400" cy="284480"/>
          </a:xfrm>
        </p:grpSpPr>
        <p:sp>
          <p:nvSpPr>
            <p:cNvPr id="6" name="Овал 5"/>
            <p:cNvSpPr/>
            <p:nvPr/>
          </p:nvSpPr>
          <p:spPr>
            <a:xfrm>
              <a:off x="4653280" y="3779520"/>
              <a:ext cx="279400" cy="284480"/>
            </a:xfrm>
            <a:prstGeom prst="ellipse">
              <a:avLst/>
            </a:prstGeom>
            <a:solidFill>
              <a:srgbClr val="C4271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Кольцо 7"/>
            <p:cNvSpPr/>
            <p:nvPr/>
          </p:nvSpPr>
          <p:spPr>
            <a:xfrm>
              <a:off x="4686935" y="3815080"/>
              <a:ext cx="212090" cy="213360"/>
            </a:xfrm>
            <a:prstGeom prst="donut">
              <a:avLst>
                <a:gd name="adj" fmla="val 793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4755832" y="3815080"/>
              <a:ext cx="74295" cy="142875"/>
            </a:xfrm>
            <a:prstGeom prst="flowChartProcess">
              <a:avLst/>
            </a:prstGeom>
            <a:solidFill>
              <a:srgbClr val="C42712"/>
            </a:solidFill>
            <a:ln>
              <a:solidFill>
                <a:srgbClr val="C427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Блок-схема: процесс 10"/>
            <p:cNvSpPr/>
            <p:nvPr/>
          </p:nvSpPr>
          <p:spPr>
            <a:xfrm>
              <a:off x="4770119" y="3808094"/>
              <a:ext cx="45719" cy="11176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C427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20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21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/>
                    <a:t>MBR</a:t>
                  </a:r>
                </a:p>
              </p:txBody>
            </p:sp>
            <p:sp>
              <p:nvSpPr>
                <p:cNvPr id="22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3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4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26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27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8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9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30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31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18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19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15" name="Правая фигурная скобка 14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авая фигурная скобка 15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Rectangle 6">
            <a:extLst>
              <a:ext uri="{FF2B5EF4-FFF2-40B4-BE49-F238E27FC236}">
                <a16:creationId xmlns:a16="http://schemas.microsoft.com/office/drawing/2014/main" id="{EAC00582-6CD3-4532-9FB9-8285954A6F42}"/>
              </a:ext>
            </a:extLst>
          </p:cNvPr>
          <p:cNvSpPr/>
          <p:nvPr/>
        </p:nvSpPr>
        <p:spPr>
          <a:xfrm>
            <a:off x="7413458" y="2071487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7C80"/>
                </a:solidFill>
              </a:rPr>
              <a:t>Boot</a:t>
            </a:r>
            <a:r>
              <a:rPr lang="ru-RU" dirty="0">
                <a:solidFill>
                  <a:srgbClr val="FF7C80"/>
                </a:solidFill>
              </a:rPr>
              <a:t> секция*</a:t>
            </a:r>
            <a:endParaRPr lang="en-US" dirty="0">
              <a:solidFill>
                <a:srgbClr val="FF7C80"/>
              </a:solidFill>
            </a:endParaRPr>
          </a:p>
        </p:txBody>
      </p:sp>
      <p:pic>
        <p:nvPicPr>
          <p:cNvPr id="33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34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7405909" y="2469028"/>
            <a:ext cx="1845469" cy="3187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7401103" y="2845369"/>
            <a:ext cx="1845469" cy="3187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7413458" y="3258350"/>
            <a:ext cx="1845469" cy="5821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7401102" y="3902216"/>
            <a:ext cx="1845469" cy="3187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7413458" y="4313841"/>
            <a:ext cx="1845469" cy="3187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7432092" y="4711763"/>
            <a:ext cx="1845469" cy="3187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7423062" y="5104448"/>
            <a:ext cx="1845469" cy="3187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7431734" y="5509534"/>
            <a:ext cx="1845469" cy="563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0000000000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4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Полезная нагрузка</a:t>
            </a:r>
          </a:p>
        </p:txBody>
      </p:sp>
      <p:sp>
        <p:nvSpPr>
          <p:cNvPr id="4" name="Прямоугольная выноска 3"/>
          <p:cNvSpPr/>
          <p:nvPr/>
        </p:nvSpPr>
        <p:spPr>
          <a:xfrm>
            <a:off x="2039377" y="1566623"/>
            <a:ext cx="4653395" cy="1780717"/>
          </a:xfrm>
          <a:prstGeom prst="wedgeRectCallout">
            <a:avLst>
              <a:gd name="adj1" fmla="val 59167"/>
              <a:gd name="adj2" fmla="val 3093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Когда вирус активировался, он перезаписывал первые 1024 сектора жесткого диска нулевыми символами, фактически уничтожая таблицу разделов и делая невозможной загрузку компьютера.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7319235" y="670560"/>
            <a:ext cx="2036877" cy="495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ДИСК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7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1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302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203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104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5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906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807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708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Группа 25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4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5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12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3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/>
                    <a:t>MBR</a:t>
                  </a:r>
                </a:p>
              </p:txBody>
            </p:sp>
            <p:sp>
              <p:nvSpPr>
                <p:cNvPr id="14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15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16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18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19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0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1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22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23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8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9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24" name="Правая фигурная скобка 23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авая фигурная скобка 24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FD710FB8-5834-4831-A243-2E703A26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9" y="3260910"/>
            <a:ext cx="4145366" cy="27550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8227B1B-BF82-4BAC-A42C-0A43DFFF5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025" y="5079472"/>
            <a:ext cx="1374207" cy="86343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0B8A0B-23AE-4E68-8BDE-BC65A20C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956" y="3933070"/>
            <a:ext cx="1619882" cy="1516525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14FE0B9-58EC-4545-B8D7-1F8B38236D8E}"/>
              </a:ext>
            </a:extLst>
          </p:cNvPr>
          <p:cNvSpPr/>
          <p:nvPr/>
        </p:nvSpPr>
        <p:spPr>
          <a:xfrm>
            <a:off x="3711921" y="2281473"/>
            <a:ext cx="3585172" cy="2489703"/>
          </a:xfrm>
          <a:custGeom>
            <a:avLst/>
            <a:gdLst>
              <a:gd name="connsiteX0" fmla="*/ 0 w 3585172"/>
              <a:gd name="connsiteY0" fmla="*/ 2489703 h 2489703"/>
              <a:gd name="connsiteX1" fmla="*/ 2281473 w 3585172"/>
              <a:gd name="connsiteY1" fmla="*/ 1810693 h 2489703"/>
              <a:gd name="connsiteX2" fmla="*/ 3150606 w 3585172"/>
              <a:gd name="connsiteY2" fmla="*/ 325925 h 2489703"/>
              <a:gd name="connsiteX3" fmla="*/ 3585172 w 3585172"/>
              <a:gd name="connsiteY3" fmla="*/ 0 h 248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172" h="2489703">
                <a:moveTo>
                  <a:pt x="0" y="2489703"/>
                </a:moveTo>
                <a:cubicBezTo>
                  <a:pt x="878186" y="2330513"/>
                  <a:pt x="1756372" y="2171323"/>
                  <a:pt x="2281473" y="1810693"/>
                </a:cubicBezTo>
                <a:cubicBezTo>
                  <a:pt x="2806574" y="1450063"/>
                  <a:pt x="2933323" y="627707"/>
                  <a:pt x="3150606" y="325925"/>
                </a:cubicBezTo>
                <a:cubicBezTo>
                  <a:pt x="3367889" y="24143"/>
                  <a:pt x="3493129" y="51303"/>
                  <a:pt x="358517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EAC00582-6CD3-4532-9FB9-8285954A6F42}"/>
              </a:ext>
            </a:extLst>
          </p:cNvPr>
          <p:cNvSpPr/>
          <p:nvPr/>
        </p:nvSpPr>
        <p:spPr>
          <a:xfrm>
            <a:off x="7413458" y="2071487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7C80"/>
                </a:solidFill>
              </a:rPr>
              <a:t>Boot</a:t>
            </a:r>
            <a:r>
              <a:rPr lang="ru-RU" dirty="0">
                <a:solidFill>
                  <a:srgbClr val="FF7C80"/>
                </a:solidFill>
              </a:rPr>
              <a:t> секция*</a:t>
            </a:r>
            <a:endParaRPr lang="en-US" dirty="0">
              <a:solidFill>
                <a:srgbClr val="FF7C80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1832981-2025-4ABC-97A6-BE7FBBD00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566" y="1969249"/>
            <a:ext cx="671574" cy="67157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1683" y="1342622"/>
            <a:ext cx="5405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Вирус быстро распространялся через дискеты, которые в то время были распространенным способом обмена файлами. После заражения дискета могла легко заразить другие компьютеры, что способствовало распространению вируса</a:t>
            </a:r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Распространение</a:t>
            </a:r>
            <a:endParaRPr lang="ru-RU" dirty="0"/>
          </a:p>
        </p:txBody>
      </p:sp>
      <p:grpSp>
        <p:nvGrpSpPr>
          <p:cNvPr id="32" name="Группа 31"/>
          <p:cNvGrpSpPr/>
          <p:nvPr/>
        </p:nvGrpSpPr>
        <p:grpSpPr>
          <a:xfrm>
            <a:off x="2116534" y="1443588"/>
            <a:ext cx="7068185" cy="3420930"/>
            <a:chOff x="1191895" y="1310640"/>
            <a:chExt cx="8894927" cy="3965893"/>
          </a:xfrm>
        </p:grpSpPr>
        <p:grpSp>
          <p:nvGrpSpPr>
            <p:cNvPr id="33" name="Группа 32"/>
            <p:cNvGrpSpPr/>
            <p:nvPr/>
          </p:nvGrpSpPr>
          <p:grpSpPr>
            <a:xfrm>
              <a:off x="1191895" y="1310640"/>
              <a:ext cx="8894927" cy="3965893"/>
              <a:chOff x="1191895" y="1310640"/>
              <a:chExt cx="8894927" cy="3965893"/>
            </a:xfrm>
          </p:grpSpPr>
          <p:pic>
            <p:nvPicPr>
              <p:cNvPr id="35" name="Picture 2" descr="https://svd-komi.ru/uploads/2330734.jpg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1895" y="1310640"/>
                <a:ext cx="8894927" cy="39658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" name="Прямоугольник 35"/>
              <p:cNvSpPr/>
              <p:nvPr/>
            </p:nvSpPr>
            <p:spPr>
              <a:xfrm>
                <a:off x="1191895" y="1310640"/>
                <a:ext cx="8091001" cy="579120"/>
              </a:xfrm>
              <a:prstGeom prst="rect">
                <a:avLst/>
              </a:prstGeom>
              <a:solidFill>
                <a:srgbClr val="0165FB"/>
              </a:solidFill>
              <a:ln>
                <a:solidFill>
                  <a:srgbClr val="0165F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4" name="Прямоугольник 33"/>
            <p:cNvSpPr/>
            <p:nvPr/>
          </p:nvSpPr>
          <p:spPr>
            <a:xfrm>
              <a:off x="2641600" y="2428240"/>
              <a:ext cx="6421377" cy="975360"/>
            </a:xfrm>
            <a:prstGeom prst="rect">
              <a:avLst/>
            </a:prstGeom>
            <a:solidFill>
              <a:srgbClr val="ECE9D8"/>
            </a:solidFill>
            <a:ln>
              <a:solidFill>
                <a:srgbClr val="ECE9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2400" spc="200" dirty="0" smtClean="0">
                  <a:solidFill>
                    <a:schemeClr val="bg2">
                      <a:lumMod val="25000"/>
                    </a:schemeClr>
                  </a:solidFill>
                  <a:latin typeface="Lucida Console" panose="020B0609040504020204" pitchFamily="49" charset="0"/>
                </a:rPr>
                <a:t>Дискета заражена!</a:t>
              </a:r>
              <a:endParaRPr lang="ru-RU" sz="2400" spc="200" dirty="0">
                <a:solidFill>
                  <a:schemeClr val="bg2">
                    <a:lumMod val="25000"/>
                  </a:schemeClr>
                </a:solidFill>
                <a:latin typeface="Lucida Console" panose="020B0609040504020204" pitchFamily="49" charset="0"/>
              </a:endParaRPr>
            </a:p>
          </p:txBody>
        </p:sp>
      </p:grpSp>
      <p:sp>
        <p:nvSpPr>
          <p:cNvPr id="2" name="Прямоугольник 1">
            <a:hlinkClick r:id="" action="ppaction://hlinkshowjump?jump=nextslide"/>
          </p:cNvPr>
          <p:cNvSpPr/>
          <p:nvPr/>
        </p:nvSpPr>
        <p:spPr>
          <a:xfrm>
            <a:off x="4861367" y="4174457"/>
            <a:ext cx="1400533" cy="45854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hlinkClick r:id="" action="ppaction://hlinkshowjump?jump=nextslide"/>
          </p:cNvPr>
          <p:cNvSpPr/>
          <p:nvPr/>
        </p:nvSpPr>
        <p:spPr>
          <a:xfrm>
            <a:off x="8641597" y="1530131"/>
            <a:ext cx="543123" cy="42678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/>
        </p:nvSpPr>
        <p:spPr>
          <a:xfrm>
            <a:off x="7319235" y="670560"/>
            <a:ext cx="2036877" cy="495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ДИСК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43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91667E-6 -3.7037E-6 L 0.03711 -0.0879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75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28815 0.35903 L -0.24713 0.34838 L -0.18554 0.32199 L -0.12682 0.28356 L -0.0901 0.23472 L -0.06901 0.17268 L -0.05494 0.11319 L -0.04101 0.05926 L -0.02487 0.01968 L -0.00807 0.00393 L -3.75E-6 3.7037E-7 " pathEditMode="relative" rAng="10800000" ptsTypes="AAAAAAAAAAA">
                                      <p:cBhvr>
                                        <p:cTn id="17" dur="40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4" y="-1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0"/>
                            </p:stCondLst>
                            <p:childTnLst>
                              <p:par>
                                <p:cTn id="19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75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Группа 25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4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5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12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13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/>
                    <a:t>MBR</a:t>
                  </a:r>
                </a:p>
              </p:txBody>
            </p:sp>
            <p:sp>
              <p:nvSpPr>
                <p:cNvPr id="14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15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16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18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19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0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1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22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23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8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9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24" name="Правая фигурная скобка 23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авая фигурная скобка 24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FD710FB8-5834-4831-A243-2E703A26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9" y="3260910"/>
            <a:ext cx="4145366" cy="27550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8227B1B-BF82-4BAC-A42C-0A43DFFF5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11" y="4413265"/>
            <a:ext cx="1374207" cy="86343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0B8A0B-23AE-4E68-8BDE-BC65A20C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956" y="3933070"/>
            <a:ext cx="1619882" cy="1516525"/>
          </a:xfrm>
          <a:prstGeom prst="rect">
            <a:avLst/>
          </a:pr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14FE0B9-58EC-4545-B8D7-1F8B38236D8E}"/>
              </a:ext>
            </a:extLst>
          </p:cNvPr>
          <p:cNvSpPr/>
          <p:nvPr/>
        </p:nvSpPr>
        <p:spPr>
          <a:xfrm>
            <a:off x="3711921" y="2281473"/>
            <a:ext cx="3585172" cy="2489703"/>
          </a:xfrm>
          <a:custGeom>
            <a:avLst/>
            <a:gdLst>
              <a:gd name="connsiteX0" fmla="*/ 0 w 3585172"/>
              <a:gd name="connsiteY0" fmla="*/ 2489703 h 2489703"/>
              <a:gd name="connsiteX1" fmla="*/ 2281473 w 3585172"/>
              <a:gd name="connsiteY1" fmla="*/ 1810693 h 2489703"/>
              <a:gd name="connsiteX2" fmla="*/ 3150606 w 3585172"/>
              <a:gd name="connsiteY2" fmla="*/ 325925 h 2489703"/>
              <a:gd name="connsiteX3" fmla="*/ 3585172 w 3585172"/>
              <a:gd name="connsiteY3" fmla="*/ 0 h 248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172" h="2489703">
                <a:moveTo>
                  <a:pt x="0" y="2489703"/>
                </a:moveTo>
                <a:cubicBezTo>
                  <a:pt x="878186" y="2330513"/>
                  <a:pt x="1756372" y="2171323"/>
                  <a:pt x="2281473" y="1810693"/>
                </a:cubicBezTo>
                <a:cubicBezTo>
                  <a:pt x="2806574" y="1450063"/>
                  <a:pt x="2933323" y="627707"/>
                  <a:pt x="3150606" y="325925"/>
                </a:cubicBezTo>
                <a:cubicBezTo>
                  <a:pt x="3367889" y="24143"/>
                  <a:pt x="3493129" y="51303"/>
                  <a:pt x="358517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EAC00582-6CD3-4532-9FB9-8285954A6F42}"/>
              </a:ext>
            </a:extLst>
          </p:cNvPr>
          <p:cNvSpPr/>
          <p:nvPr/>
        </p:nvSpPr>
        <p:spPr>
          <a:xfrm>
            <a:off x="7413458" y="2071487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7C80"/>
                </a:solidFill>
              </a:rPr>
              <a:t>Boot</a:t>
            </a:r>
            <a:r>
              <a:rPr lang="ru-RU" dirty="0">
                <a:solidFill>
                  <a:srgbClr val="FF7C80"/>
                </a:solidFill>
              </a:rPr>
              <a:t> секция*</a:t>
            </a:r>
            <a:endParaRPr lang="en-US" dirty="0">
              <a:solidFill>
                <a:srgbClr val="FF7C80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1683" y="1342622"/>
            <a:ext cx="5405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Вирус быстро распространялся через дискеты, которые в то время были распространенным способом обмена файлами. После заражения дискета могла легко заразить другие компьютеры, что способствовало распространению вируса</a:t>
            </a:r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Распространение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7319235" y="670560"/>
            <a:ext cx="2036877" cy="495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ДИСК</a:t>
            </a:r>
            <a:endParaRPr lang="ru-RU" b="1" dirty="0">
              <a:solidFill>
                <a:schemeClr val="tx1"/>
              </a:solidFill>
            </a:endParaRPr>
          </a:p>
        </p:txBody>
      </p:sp>
      <p:grpSp>
        <p:nvGrpSpPr>
          <p:cNvPr id="32" name="Группа 31"/>
          <p:cNvGrpSpPr/>
          <p:nvPr/>
        </p:nvGrpSpPr>
        <p:grpSpPr>
          <a:xfrm>
            <a:off x="2116534" y="1443588"/>
            <a:ext cx="7068185" cy="3420930"/>
            <a:chOff x="1191895" y="1310640"/>
            <a:chExt cx="8894927" cy="3965893"/>
          </a:xfrm>
        </p:grpSpPr>
        <p:grpSp>
          <p:nvGrpSpPr>
            <p:cNvPr id="33" name="Группа 32"/>
            <p:cNvGrpSpPr/>
            <p:nvPr/>
          </p:nvGrpSpPr>
          <p:grpSpPr>
            <a:xfrm>
              <a:off x="1191895" y="1310640"/>
              <a:ext cx="8894927" cy="3965893"/>
              <a:chOff x="1191895" y="1310640"/>
              <a:chExt cx="8894927" cy="3965893"/>
            </a:xfrm>
          </p:grpSpPr>
          <p:pic>
            <p:nvPicPr>
              <p:cNvPr id="35" name="Picture 2" descr="https://svd-komi.ru/uploads/2330734.jp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1895" y="1310640"/>
                <a:ext cx="8894927" cy="39658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" name="Прямоугольник 35"/>
              <p:cNvSpPr/>
              <p:nvPr/>
            </p:nvSpPr>
            <p:spPr>
              <a:xfrm>
                <a:off x="1191895" y="1310640"/>
                <a:ext cx="8091001" cy="579120"/>
              </a:xfrm>
              <a:prstGeom prst="rect">
                <a:avLst/>
              </a:prstGeom>
              <a:solidFill>
                <a:srgbClr val="0165FB"/>
              </a:solidFill>
              <a:ln>
                <a:solidFill>
                  <a:srgbClr val="0165F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4" name="Прямоугольник 33"/>
            <p:cNvSpPr/>
            <p:nvPr/>
          </p:nvSpPr>
          <p:spPr>
            <a:xfrm>
              <a:off x="2641600" y="2428240"/>
              <a:ext cx="6421377" cy="975360"/>
            </a:xfrm>
            <a:prstGeom prst="rect">
              <a:avLst/>
            </a:prstGeom>
            <a:solidFill>
              <a:srgbClr val="ECE9D8"/>
            </a:solidFill>
            <a:ln>
              <a:solidFill>
                <a:srgbClr val="ECE9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2400" spc="200" dirty="0" smtClean="0">
                  <a:solidFill>
                    <a:schemeClr val="bg2">
                      <a:lumMod val="25000"/>
                    </a:schemeClr>
                  </a:solidFill>
                  <a:latin typeface="Lucida Console" panose="020B0609040504020204" pitchFamily="49" charset="0"/>
                </a:rPr>
                <a:t>Дискета заражена!</a:t>
              </a:r>
              <a:endParaRPr lang="ru-RU" sz="2400" spc="200" dirty="0">
                <a:solidFill>
                  <a:schemeClr val="bg2">
                    <a:lumMod val="25000"/>
                  </a:schemeClr>
                </a:solidFill>
                <a:latin typeface="Lucida Console" panose="020B06090405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37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649 0.06667 L 1.04167E-6 -1.48148E-6 " pathEditMode="relative" rAng="0" ptsTypes="AA">
                                      <p:cBhvr>
                                        <p:cTn id="10" dur="20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8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https://artefakts.ru/pictures/product/middle/7312_middle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992" r="9860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58091">
            <a:off x="3180058" y="2780428"/>
            <a:ext cx="3654102" cy="305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4651" y="1120161"/>
            <a:ext cx="8595360" cy="435133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Вирус можно удалить с помощью антивирусного программного обеспечения, но многие пользователи не знали о вирусе или не имели доступа к антивирусному программному обеспечению, что </a:t>
            </a:r>
            <a:r>
              <a:rPr lang="ru-RU" sz="2400" dirty="0" smtClean="0"/>
              <a:t>затрудняло уничтожение</a:t>
            </a:r>
            <a:r>
              <a:rPr lang="ru-RU" sz="2400" dirty="0"/>
              <a:t> </a:t>
            </a:r>
            <a:r>
              <a:rPr lang="en-US" sz="2400" dirty="0" smtClean="0"/>
              <a:t>March6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94651" y="366079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Удаление</a:t>
            </a:r>
            <a:endParaRPr lang="ru-RU" dirty="0"/>
          </a:p>
        </p:txBody>
      </p:sp>
      <p:pic>
        <p:nvPicPr>
          <p:cNvPr id="6" name="Picture 67">
            <a:extLst>
              <a:ext uri="{FF2B5EF4-FFF2-40B4-BE49-F238E27FC236}">
                <a16:creationId xmlns:a16="http://schemas.microsoft.com/office/drawing/2014/main" id="{E1832981-2025-4ABC-97A6-BE7FBBD0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048" y="2622949"/>
            <a:ext cx="3249785" cy="324978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090142" y="2772052"/>
            <a:ext cx="3624331" cy="3665496"/>
            <a:chOff x="1668000" y="3259732"/>
            <a:chExt cx="3624331" cy="3665496"/>
          </a:xfrm>
        </p:grpSpPr>
        <p:pic>
          <p:nvPicPr>
            <p:cNvPr id="8196" name="Picture 4" descr="https://free-images.com/or/9f8d/shield_green_shadow_protection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85136" y1="31055" x2="82222" y2="2329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000" y="3259732"/>
              <a:ext cx="3624331" cy="3665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Группа 7"/>
            <p:cNvGrpSpPr/>
            <p:nvPr/>
          </p:nvGrpSpPr>
          <p:grpSpPr>
            <a:xfrm>
              <a:off x="2753139" y="4293704"/>
              <a:ext cx="486140" cy="477079"/>
              <a:chOff x="2753139" y="4293704"/>
              <a:chExt cx="486140" cy="477079"/>
            </a:xfrm>
          </p:grpSpPr>
          <p:sp>
            <p:nvSpPr>
              <p:cNvPr id="7" name="Овал 6"/>
              <p:cNvSpPr/>
              <p:nvPr/>
            </p:nvSpPr>
            <p:spPr>
              <a:xfrm>
                <a:off x="2753139" y="4293704"/>
                <a:ext cx="477078" cy="47707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Овал 11"/>
              <p:cNvSpPr/>
              <p:nvPr/>
            </p:nvSpPr>
            <p:spPr>
              <a:xfrm>
                <a:off x="2914601" y="4366590"/>
                <a:ext cx="324678" cy="33130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" name="Группа 13"/>
            <p:cNvGrpSpPr/>
            <p:nvPr/>
          </p:nvGrpSpPr>
          <p:grpSpPr>
            <a:xfrm>
              <a:off x="3909529" y="4114799"/>
              <a:ext cx="477078" cy="477079"/>
              <a:chOff x="2753139" y="4293704"/>
              <a:chExt cx="477078" cy="477079"/>
            </a:xfrm>
          </p:grpSpPr>
          <p:sp>
            <p:nvSpPr>
              <p:cNvPr id="15" name="Овал 14"/>
              <p:cNvSpPr/>
              <p:nvPr/>
            </p:nvSpPr>
            <p:spPr>
              <a:xfrm>
                <a:off x="2753139" y="4293704"/>
                <a:ext cx="477078" cy="47707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/>
              <p:cNvSpPr/>
              <p:nvPr/>
            </p:nvSpPr>
            <p:spPr>
              <a:xfrm>
                <a:off x="2897550" y="4366590"/>
                <a:ext cx="324678" cy="33130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9" name="Арка 8"/>
            <p:cNvSpPr/>
            <p:nvPr/>
          </p:nvSpPr>
          <p:spPr>
            <a:xfrm rot="19721324" flipV="1">
              <a:off x="3283595" y="4276124"/>
              <a:ext cx="817096" cy="700236"/>
            </a:xfrm>
            <a:prstGeom prst="blockArc">
              <a:avLst>
                <a:gd name="adj1" fmla="val 10800000"/>
                <a:gd name="adj2" fmla="val 18610960"/>
                <a:gd name="adj3" fmla="val 446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Группа 47"/>
          <p:cNvGrpSpPr/>
          <p:nvPr/>
        </p:nvGrpSpPr>
        <p:grpSpPr>
          <a:xfrm>
            <a:off x="6629258" y="2892876"/>
            <a:ext cx="623705" cy="807129"/>
            <a:chOff x="4556148" y="1779284"/>
            <a:chExt cx="623705" cy="807129"/>
          </a:xfrm>
        </p:grpSpPr>
        <p:pic>
          <p:nvPicPr>
            <p:cNvPr id="49" name="Picture 16" descr="https://cdn.discordapp.com/attachments/1032221794502983762/1096864806646063235/image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6148" y="2068029"/>
              <a:ext cx="249225" cy="235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16" descr="https://cdn.discordapp.com/attachments/1032221794502983762/1096864806646063235/image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546" y="2351034"/>
              <a:ext cx="249225" cy="235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1158" y="1779284"/>
              <a:ext cx="338695" cy="40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2" name="Picture 16" descr="https://cdn.discordapp.com/attachments/1032221794502983762/1096864806646063235/imag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033" y="4247841"/>
            <a:ext cx="249225" cy="23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Группа 52"/>
          <p:cNvGrpSpPr/>
          <p:nvPr/>
        </p:nvGrpSpPr>
        <p:grpSpPr>
          <a:xfrm>
            <a:off x="6282272" y="2885059"/>
            <a:ext cx="614103" cy="593124"/>
            <a:chOff x="2833433" y="1594130"/>
            <a:chExt cx="827101" cy="728940"/>
          </a:xfrm>
        </p:grpSpPr>
        <p:pic>
          <p:nvPicPr>
            <p:cNvPr id="54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839" y="1727014"/>
              <a:ext cx="338695" cy="40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8" descr="https://cdn.discordapp.com/attachments/1032221794502983762/1096864824857735229/image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3433" y="2133448"/>
              <a:ext cx="216711" cy="189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0144" y="1594130"/>
              <a:ext cx="429588" cy="515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Группа 56"/>
          <p:cNvGrpSpPr/>
          <p:nvPr/>
        </p:nvGrpSpPr>
        <p:grpSpPr>
          <a:xfrm>
            <a:off x="6785812" y="3598597"/>
            <a:ext cx="566985" cy="763172"/>
            <a:chOff x="4783492" y="2129441"/>
            <a:chExt cx="566985" cy="763172"/>
          </a:xfrm>
        </p:grpSpPr>
        <p:pic>
          <p:nvPicPr>
            <p:cNvPr id="58" name="Picture 18" descr="https://cdn.discordapp.com/attachments/1032221794502983762/1096864824857735229/image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835" y="2129441"/>
              <a:ext cx="165642" cy="144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https://cdn.discordapp.com/attachments/1032221794502983762/1096864824857735229/image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3492" y="2671940"/>
              <a:ext cx="252198" cy="220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3492" y="2265506"/>
              <a:ext cx="338695" cy="40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" name="Picture 16" descr="https://cdn.discordapp.com/attachments/1032221794502983762/1096864806646063235/imag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765" y="2946242"/>
            <a:ext cx="249225" cy="23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848194" y="6109718"/>
            <a:ext cx="2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 smtClean="0"/>
              <a:t>Антивирус</a:t>
            </a:r>
            <a:endParaRPr lang="ru-RU" sz="2000" b="1" i="1" dirty="0"/>
          </a:p>
        </p:txBody>
      </p:sp>
      <p:sp>
        <p:nvSpPr>
          <p:cNvPr id="63" name="TextBox 62"/>
          <p:cNvSpPr txBox="1"/>
          <p:nvPr/>
        </p:nvSpPr>
        <p:spPr>
          <a:xfrm>
            <a:off x="6877291" y="6106798"/>
            <a:ext cx="2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/>
              <a:t>В</a:t>
            </a:r>
            <a:r>
              <a:rPr lang="ru-RU" sz="2000" b="1" i="1" dirty="0" smtClean="0"/>
              <a:t>ирус</a:t>
            </a:r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30981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91667E-6 -7.40741E-7 L 0.12278 -0.04028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-20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2278 -0.04028 L 2.91667E-6 -7.40741E-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6" y="201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5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250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91667E-6 -7.40741E-7 L 0.12278 -0.04028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-201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25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78 -0.04028 L 2.91667E-6 -7.40741E-7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6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6300" y="1970492"/>
            <a:ext cx="10427620" cy="43513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000" dirty="0"/>
              <a:t>Никто так и не узнал, кто написал вирус. Предполагается, что он появился где-то на Тайване, но убедительных доказательств этому так и не было.</a:t>
            </a:r>
          </a:p>
        </p:txBody>
      </p:sp>
    </p:spTree>
    <p:extLst>
      <p:ext uri="{BB962C8B-B14F-4D97-AF65-F5344CB8AC3E}">
        <p14:creationId xmlns:p14="http://schemas.microsoft.com/office/powerpoint/2010/main" val="223844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sun9-34.userapi.com/impg/FunZg1XSgFlyGHsEjrmQC38kRxALmIzfJLKD9Q/6EhjfFVvP1o.jpg?size=1148x659&amp;quality=96&amp;sign=91794c25018885582f4ea2fe91cd8110&amp;type=alb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8"/>
            <a:ext cx="12192000" cy="685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tode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43499" y="3189689"/>
            <a:ext cx="3846171" cy="324520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23568" y="279566"/>
            <a:ext cx="7414054" cy="6281872"/>
          </a:xfrm>
          <a:prstGeom prst="rect">
            <a:avLst/>
          </a:prstGeom>
          <a:solidFill>
            <a:srgbClr val="0000AA"/>
          </a:solidFill>
          <a:ln>
            <a:solidFill>
              <a:srgbClr val="0000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Lucida Console" panose="020B0609040504020204" pitchFamily="49" charset="0"/>
              </a:rPr>
              <a:t>program 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qq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const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N=7;</a:t>
            </a:r>
          </a:p>
          <a:p>
            <a:r>
              <a:rPr lang="en-US" dirty="0">
                <a:latin typeface="Lucida Console" panose="020B0609040504020204" pitchFamily="49" charset="0"/>
              </a:rPr>
              <a:t>Type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mass=</a:t>
            </a:r>
            <a:r>
              <a:rPr lang="en-US" dirty="0">
                <a:latin typeface="Lucida Console" panose="020B0609040504020204" pitchFamily="49" charset="0"/>
              </a:rPr>
              <a:t>array[1..N] of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integer;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var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m:mass;</a:t>
            </a:r>
          </a:p>
          <a:p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    i:integer;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Function 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ArithmeticMean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(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m:mass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):real;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var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i,sum:integer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dirty="0">
                <a:latin typeface="Lucida Console" panose="020B0609040504020204" pitchFamily="49" charset="0"/>
              </a:rPr>
              <a:t>begin</a:t>
            </a:r>
          </a:p>
          <a:p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sum:=0;</a:t>
            </a:r>
          </a:p>
          <a:p>
            <a:r>
              <a:rPr lang="en-US" dirty="0">
                <a:latin typeface="Lucida Console" panose="020B0609040504020204" pitchFamily="49" charset="0"/>
              </a:rPr>
              <a:t>  for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i:=1</a:t>
            </a:r>
            <a:r>
              <a:rPr lang="en-US" dirty="0">
                <a:latin typeface="Lucida Console" panose="020B0609040504020204" pitchFamily="49" charset="0"/>
              </a:rPr>
              <a:t> to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N</a:t>
            </a:r>
            <a:r>
              <a:rPr lang="en-US" dirty="0">
                <a:latin typeface="Lucida Console" panose="020B0609040504020204" pitchFamily="49" charset="0"/>
              </a:rPr>
              <a:t> do</a:t>
            </a:r>
          </a:p>
          <a:p>
            <a:r>
              <a:rPr lang="en-US" dirty="0">
                <a:latin typeface="Lucida Console" panose="020B0609040504020204" pitchFamily="49" charset="0"/>
              </a:rPr>
              <a:t>  begin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sum:=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sum+m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[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dirty="0">
                <a:latin typeface="Lucida Console" panose="020B0609040504020204" pitchFamily="49" charset="0"/>
              </a:rPr>
              <a:t>  end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ArithmeticMean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:=sum/N;</a:t>
            </a:r>
          </a:p>
          <a:p>
            <a:r>
              <a:rPr lang="en-US" dirty="0">
                <a:latin typeface="Lucida Console" panose="020B0609040504020204" pitchFamily="49" charset="0"/>
              </a:rPr>
              <a:t>end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Begin</a:t>
            </a:r>
          </a:p>
          <a:p>
            <a:r>
              <a:rPr lang="en-US" dirty="0">
                <a:latin typeface="Lucida Console" panose="020B0609040504020204" pitchFamily="49" charset="0"/>
              </a:rPr>
              <a:t> 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randomize;</a:t>
            </a:r>
          </a:p>
          <a:p>
            <a:r>
              <a:rPr lang="en-US" dirty="0">
                <a:latin typeface="Lucida Console" panose="020B0609040504020204" pitchFamily="49" charset="0"/>
              </a:rPr>
              <a:t>  for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i:=1 </a:t>
            </a:r>
            <a:r>
              <a:rPr lang="en-US" dirty="0">
                <a:latin typeface="Lucida Console" panose="020B0609040504020204" pitchFamily="49" charset="0"/>
              </a:rPr>
              <a:t>to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N</a:t>
            </a:r>
            <a:r>
              <a:rPr lang="en-US" dirty="0">
                <a:latin typeface="Lucida Console" panose="020B0609040504020204" pitchFamily="49" charset="0"/>
              </a:rPr>
              <a:t> do</a:t>
            </a:r>
          </a:p>
          <a:p>
            <a:r>
              <a:rPr lang="en-US" dirty="0">
                <a:latin typeface="Lucida Console" panose="020B0609040504020204" pitchFamily="49" charset="0"/>
              </a:rPr>
              <a:t>  begin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m[</a:t>
            </a:r>
            <a:r>
              <a:rPr lang="en-US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</a:t>
            </a:r>
            <a:r>
              <a:rPr lang="en-US" dirty="0">
                <a:solidFill>
                  <a:srgbClr val="FFFF00"/>
                </a:solidFill>
                <a:latin typeface="Lucida Console" panose="020B0609040504020204" pitchFamily="49" charset="0"/>
              </a:rPr>
              <a:t>]:=</a:t>
            </a:r>
            <a:r>
              <a:rPr lang="en-US" dirty="0" smtClean="0">
                <a:solidFill>
                  <a:srgbClr val="FFFF00"/>
                </a:solidFill>
                <a:latin typeface="Lucida Console" panose="020B0609040504020204" pitchFamily="49" charset="0"/>
              </a:rPr>
              <a:t>random(99);</a:t>
            </a:r>
            <a:r>
              <a:rPr lang="ru-RU" dirty="0" smtClean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{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СПАСИБО ЗА ВНИМАНИЕ!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}</a:t>
            </a:r>
            <a:endParaRPr lang="en-US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algn="ctr"/>
            <a:endParaRPr lang="ru-RU" dirty="0"/>
          </a:p>
        </p:txBody>
      </p:sp>
      <p:pic>
        <p:nvPicPr>
          <p:cNvPr id="11" name="Picture 12" descr="https://cdn.discordapp.com/attachments/1032221794502983762/1096879005476589638/todel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0160" y="-594360"/>
            <a:ext cx="14782799" cy="808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48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https://cdn.discordapp.com/attachments/1032221794502983762/1096879005476589638/tod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0160" y="-594360"/>
            <a:ext cx="14782799" cy="808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42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https://cdn.discordapp.com/attachments/1032221794502983762/1096864806646063235/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012" y="2586413"/>
            <a:ext cx="249225" cy="23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Группа 10"/>
          <p:cNvGrpSpPr/>
          <p:nvPr/>
        </p:nvGrpSpPr>
        <p:grpSpPr>
          <a:xfrm>
            <a:off x="300297" y="531341"/>
            <a:ext cx="614103" cy="593124"/>
            <a:chOff x="2833433" y="1594130"/>
            <a:chExt cx="827101" cy="728940"/>
          </a:xfrm>
        </p:grpSpPr>
        <p:pic>
          <p:nvPicPr>
            <p:cNvPr id="3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839" y="1727014"/>
              <a:ext cx="338695" cy="40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8" descr="https://cdn.discordapp.com/attachments/1032221794502983762/1096864824857735229/imag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3433" y="2133448"/>
              <a:ext cx="216711" cy="189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0144" y="1594130"/>
              <a:ext cx="429588" cy="515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Группа 12"/>
          <p:cNvGrpSpPr/>
          <p:nvPr/>
        </p:nvGrpSpPr>
        <p:grpSpPr>
          <a:xfrm>
            <a:off x="408652" y="1896973"/>
            <a:ext cx="623705" cy="807129"/>
            <a:chOff x="4556148" y="1779284"/>
            <a:chExt cx="623705" cy="807129"/>
          </a:xfrm>
        </p:grpSpPr>
        <p:pic>
          <p:nvPicPr>
            <p:cNvPr id="2" name="Picture 16" descr="https://cdn.discordapp.com/attachments/1032221794502983762/1096864806646063235/image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6148" y="2068029"/>
              <a:ext cx="249225" cy="235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6" descr="https://cdn.discordapp.com/attachments/1032221794502983762/1096864806646063235/image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546" y="2351034"/>
              <a:ext cx="249225" cy="235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1158" y="1779284"/>
              <a:ext cx="338695" cy="40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/>
          <p:cNvGrpSpPr/>
          <p:nvPr/>
        </p:nvGrpSpPr>
        <p:grpSpPr>
          <a:xfrm>
            <a:off x="410169" y="3175851"/>
            <a:ext cx="566985" cy="763172"/>
            <a:chOff x="4783492" y="2129441"/>
            <a:chExt cx="566985" cy="763172"/>
          </a:xfrm>
        </p:grpSpPr>
        <p:pic>
          <p:nvPicPr>
            <p:cNvPr id="4" name="Picture 18" descr="https://cdn.discordapp.com/attachments/1032221794502983762/1096864824857735229/imag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835" y="2129441"/>
              <a:ext cx="165642" cy="144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8" descr="https://cdn.discordapp.com/attachments/1032221794502983762/1096864824857735229/imag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3492" y="2671940"/>
              <a:ext cx="252198" cy="220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https://cdn.discordapp.com/attachments/1032221794502983762/1096864784835690506/image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3492" y="2265506"/>
              <a:ext cx="338695" cy="40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782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1191895" y="1310640"/>
            <a:ext cx="8894927" cy="3965893"/>
            <a:chOff x="1191895" y="1310640"/>
            <a:chExt cx="8894927" cy="3965893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1191895" y="1310640"/>
              <a:ext cx="8894927" cy="3965893"/>
              <a:chOff x="1191895" y="1310640"/>
              <a:chExt cx="8894927" cy="3965893"/>
            </a:xfrm>
          </p:grpSpPr>
          <p:pic>
            <p:nvPicPr>
              <p:cNvPr id="7170" name="Picture 2" descr="https://svd-komi.ru/uploads/2330734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1895" y="1310640"/>
                <a:ext cx="8894927" cy="39658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Прямоугольник 1"/>
              <p:cNvSpPr/>
              <p:nvPr/>
            </p:nvSpPr>
            <p:spPr>
              <a:xfrm>
                <a:off x="1191895" y="1310640"/>
                <a:ext cx="8091001" cy="579120"/>
              </a:xfrm>
              <a:prstGeom prst="rect">
                <a:avLst/>
              </a:prstGeom>
              <a:solidFill>
                <a:srgbClr val="0165FB"/>
              </a:solidFill>
              <a:ln>
                <a:solidFill>
                  <a:srgbClr val="0165F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4" name="Прямоугольник 3"/>
            <p:cNvSpPr/>
            <p:nvPr/>
          </p:nvSpPr>
          <p:spPr>
            <a:xfrm>
              <a:off x="2641600" y="2428240"/>
              <a:ext cx="6421377" cy="975360"/>
            </a:xfrm>
            <a:prstGeom prst="rect">
              <a:avLst/>
            </a:prstGeom>
            <a:solidFill>
              <a:srgbClr val="ECE9D8"/>
            </a:solidFill>
            <a:ln>
              <a:solidFill>
                <a:srgbClr val="ECE9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2400" spc="200" dirty="0" smtClean="0">
                  <a:solidFill>
                    <a:schemeClr val="bg2">
                      <a:lumMod val="25000"/>
                    </a:schemeClr>
                  </a:solidFill>
                  <a:latin typeface="Lucida Console" panose="020B0609040504020204" pitchFamily="49" charset="0"/>
                </a:rPr>
                <a:t>Дискета заражена!</a:t>
              </a:r>
              <a:endParaRPr lang="ru-RU" sz="2400" spc="200" dirty="0">
                <a:solidFill>
                  <a:schemeClr val="bg2">
                    <a:lumMod val="25000"/>
                  </a:schemeClr>
                </a:solidFill>
                <a:latin typeface="Lucida Console" panose="020B06090405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640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1032221794502983762/1096819632704335983/imag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8" t="3361" r="3889" b="4870"/>
          <a:stretch/>
        </p:blipFill>
        <p:spPr bwMode="auto">
          <a:xfrm>
            <a:off x="228600" y="1729408"/>
            <a:ext cx="6599584" cy="48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3998437" y="4360988"/>
            <a:ext cx="367638" cy="377082"/>
            <a:chOff x="4653280" y="3779520"/>
            <a:chExt cx="279400" cy="284480"/>
          </a:xfrm>
        </p:grpSpPr>
        <p:sp>
          <p:nvSpPr>
            <p:cNvPr id="6" name="Овал 5"/>
            <p:cNvSpPr/>
            <p:nvPr/>
          </p:nvSpPr>
          <p:spPr>
            <a:xfrm>
              <a:off x="4653280" y="3779520"/>
              <a:ext cx="279400" cy="284480"/>
            </a:xfrm>
            <a:prstGeom prst="ellipse">
              <a:avLst/>
            </a:prstGeom>
            <a:solidFill>
              <a:srgbClr val="C4271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Кольцо 7"/>
            <p:cNvSpPr/>
            <p:nvPr/>
          </p:nvSpPr>
          <p:spPr>
            <a:xfrm>
              <a:off x="4686935" y="3815080"/>
              <a:ext cx="212090" cy="213360"/>
            </a:xfrm>
            <a:prstGeom prst="donut">
              <a:avLst>
                <a:gd name="adj" fmla="val 793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9" name="Блок-схема: процесс 8"/>
            <p:cNvSpPr/>
            <p:nvPr/>
          </p:nvSpPr>
          <p:spPr>
            <a:xfrm>
              <a:off x="4755832" y="3815080"/>
              <a:ext cx="74295" cy="142875"/>
            </a:xfrm>
            <a:prstGeom prst="flowChartProcess">
              <a:avLst/>
            </a:prstGeom>
            <a:solidFill>
              <a:srgbClr val="C42712"/>
            </a:solidFill>
            <a:ln>
              <a:solidFill>
                <a:srgbClr val="C427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Блок-схема: процесс 10"/>
            <p:cNvSpPr/>
            <p:nvPr/>
          </p:nvSpPr>
          <p:spPr>
            <a:xfrm>
              <a:off x="4770119" y="3808094"/>
              <a:ext cx="45719" cy="11176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C427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7319235" y="1166484"/>
            <a:ext cx="3805103" cy="5013653"/>
            <a:chOff x="6916899" y="1166484"/>
            <a:chExt cx="3805103" cy="5013653"/>
          </a:xfrm>
        </p:grpSpPr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5A19C6FE-B750-4400-8C7E-53DC8D9DEE55}"/>
                </a:ext>
              </a:extLst>
            </p:cNvPr>
            <p:cNvGrpSpPr/>
            <p:nvPr/>
          </p:nvGrpSpPr>
          <p:grpSpPr>
            <a:xfrm>
              <a:off x="6916899" y="1166484"/>
              <a:ext cx="3805103" cy="5013653"/>
              <a:chOff x="8518321" y="1494467"/>
              <a:chExt cx="2946249" cy="501365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6E77C6C-884F-4C22-BCFC-55D3FD8CA360}"/>
                  </a:ext>
                </a:extLst>
              </p:cNvPr>
              <p:cNvGrpSpPr/>
              <p:nvPr/>
            </p:nvGrpSpPr>
            <p:grpSpPr>
              <a:xfrm>
                <a:off x="8518321" y="1494467"/>
                <a:ext cx="1577131" cy="5013653"/>
                <a:chOff x="9776669" y="523081"/>
                <a:chExt cx="1577131" cy="5013653"/>
              </a:xfrm>
            </p:grpSpPr>
            <p:sp>
              <p:nvSpPr>
                <p:cNvPr id="20" name="Rectangle 3">
                  <a:extLst>
                    <a:ext uri="{FF2B5EF4-FFF2-40B4-BE49-F238E27FC236}">
                      <a16:creationId xmlns:a16="http://schemas.microsoft.com/office/drawing/2014/main" id="{B2D777A5-303D-4D24-B52E-F76483807694}"/>
                    </a:ext>
                  </a:extLst>
                </p:cNvPr>
                <p:cNvSpPr/>
                <p:nvPr/>
              </p:nvSpPr>
              <p:spPr>
                <a:xfrm>
                  <a:off x="9776669" y="523081"/>
                  <a:ext cx="1577131" cy="50136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/>
                </a:p>
              </p:txBody>
            </p:sp>
            <p:sp>
              <p:nvSpPr>
                <p:cNvPr id="21" name="Rectangle 4">
                  <a:extLst>
                    <a:ext uri="{FF2B5EF4-FFF2-40B4-BE49-F238E27FC236}">
                      <a16:creationId xmlns:a16="http://schemas.microsoft.com/office/drawing/2014/main" id="{D924A7BB-37B0-4064-B98D-01207E2C4A6F}"/>
                    </a:ext>
                  </a:extLst>
                </p:cNvPr>
                <p:cNvSpPr/>
                <p:nvPr/>
              </p:nvSpPr>
              <p:spPr>
                <a:xfrm>
                  <a:off x="9850771" y="645953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b="1" dirty="0"/>
                    <a:t>MBR</a:t>
                  </a:r>
                </a:p>
              </p:txBody>
            </p:sp>
            <p:sp>
              <p:nvSpPr>
                <p:cNvPr id="22" name="Rectangle 5">
                  <a:extLst>
                    <a:ext uri="{FF2B5EF4-FFF2-40B4-BE49-F238E27FC236}">
                      <a16:creationId xmlns:a16="http://schemas.microsoft.com/office/drawing/2014/main" id="{D1A2DCAC-4BD4-4DC1-98FB-FFA6A38C4F34}"/>
                    </a:ext>
                  </a:extLst>
                </p:cNvPr>
                <p:cNvSpPr/>
                <p:nvPr/>
              </p:nvSpPr>
              <p:spPr>
                <a:xfrm>
                  <a:off x="9843780" y="103324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3" name="Rectangle 6">
                  <a:extLst>
                    <a:ext uri="{FF2B5EF4-FFF2-40B4-BE49-F238E27FC236}">
                      <a16:creationId xmlns:a16="http://schemas.microsoft.com/office/drawing/2014/main" id="{89F4F955-E008-4C2E-B195-56FBC42054FC}"/>
                    </a:ext>
                  </a:extLst>
                </p:cNvPr>
                <p:cNvSpPr/>
                <p:nvPr/>
              </p:nvSpPr>
              <p:spPr>
                <a:xfrm>
                  <a:off x="9843780" y="142053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4" name="Rectangle 7">
                  <a:extLst>
                    <a:ext uri="{FF2B5EF4-FFF2-40B4-BE49-F238E27FC236}">
                      <a16:creationId xmlns:a16="http://schemas.microsoft.com/office/drawing/2014/main" id="{D91740E8-60BB-4A1B-985D-676EBB9FE2AC}"/>
                    </a:ext>
                  </a:extLst>
                </p:cNvPr>
                <p:cNvSpPr/>
                <p:nvPr/>
              </p:nvSpPr>
              <p:spPr>
                <a:xfrm>
                  <a:off x="9843780" y="1825625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863D25CF-FC41-48B3-A6EA-D88B8505FB25}"/>
                    </a:ext>
                  </a:extLst>
                </p:cNvPr>
                <p:cNvSpPr/>
                <p:nvPr/>
              </p:nvSpPr>
              <p:spPr>
                <a:xfrm>
                  <a:off x="9850771" y="220234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26" name="Rectangle 9">
                  <a:extLst>
                    <a:ext uri="{FF2B5EF4-FFF2-40B4-BE49-F238E27FC236}">
                      <a16:creationId xmlns:a16="http://schemas.microsoft.com/office/drawing/2014/main" id="{EEF4FB3A-808E-4CB8-A19D-F20ECD2477F3}"/>
                    </a:ext>
                  </a:extLst>
                </p:cNvPr>
                <p:cNvSpPr/>
                <p:nvPr/>
              </p:nvSpPr>
              <p:spPr>
                <a:xfrm>
                  <a:off x="9850771" y="2607434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C:</a:t>
                  </a:r>
                </a:p>
              </p:txBody>
            </p:sp>
            <p:sp>
              <p:nvSpPr>
                <p:cNvPr id="27" name="Rectangle 10">
                  <a:extLst>
                    <a:ext uri="{FF2B5EF4-FFF2-40B4-BE49-F238E27FC236}">
                      <a16:creationId xmlns:a16="http://schemas.microsoft.com/office/drawing/2014/main" id="{81C08D4C-7A54-4BFD-87B1-B12462D0F08D}"/>
                    </a:ext>
                  </a:extLst>
                </p:cNvPr>
                <p:cNvSpPr/>
                <p:nvPr/>
              </p:nvSpPr>
              <p:spPr>
                <a:xfrm>
                  <a:off x="9850771" y="3265732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8" name="Rectangle 11">
                  <a:extLst>
                    <a:ext uri="{FF2B5EF4-FFF2-40B4-BE49-F238E27FC236}">
                      <a16:creationId xmlns:a16="http://schemas.microsoft.com/office/drawing/2014/main" id="{5484E05D-F609-4DDB-8B36-0C213DA6827C}"/>
                    </a:ext>
                  </a:extLst>
                </p:cNvPr>
                <p:cNvSpPr/>
                <p:nvPr/>
              </p:nvSpPr>
              <p:spPr>
                <a:xfrm>
                  <a:off x="9857062" y="367081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Boot</a:t>
                  </a:r>
                  <a:r>
                    <a:rPr lang="ru-RU" dirty="0"/>
                    <a:t> секция</a:t>
                  </a:r>
                  <a:endParaRPr lang="en-US" dirty="0"/>
                </a:p>
              </p:txBody>
            </p:sp>
            <p:sp>
              <p:nvSpPr>
                <p:cNvPr id="29" name="Rectangle 12">
                  <a:extLst>
                    <a:ext uri="{FF2B5EF4-FFF2-40B4-BE49-F238E27FC236}">
                      <a16:creationId xmlns:a16="http://schemas.microsoft.com/office/drawing/2014/main" id="{A5FA67C7-A23E-4610-92EC-042911B661B7}"/>
                    </a:ext>
                  </a:extLst>
                </p:cNvPr>
                <p:cNvSpPr/>
                <p:nvPr/>
              </p:nvSpPr>
              <p:spPr>
                <a:xfrm>
                  <a:off x="9857062" y="4075907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FAT</a:t>
                  </a:r>
                  <a:r>
                    <a:rPr lang="ru-RU" dirty="0"/>
                    <a:t> таблица</a:t>
                  </a:r>
                  <a:endParaRPr lang="en-US" dirty="0"/>
                </a:p>
              </p:txBody>
            </p:sp>
            <p:sp>
              <p:nvSpPr>
                <p:cNvPr id="30" name="Rectangle 13">
                  <a:extLst>
                    <a:ext uri="{FF2B5EF4-FFF2-40B4-BE49-F238E27FC236}">
                      <a16:creationId xmlns:a16="http://schemas.microsoft.com/office/drawing/2014/main" id="{CAEA3163-9133-425D-9F36-44AEED788918}"/>
                    </a:ext>
                  </a:extLst>
                </p:cNvPr>
                <p:cNvSpPr/>
                <p:nvPr/>
              </p:nvSpPr>
              <p:spPr>
                <a:xfrm>
                  <a:off x="9864053" y="4452629"/>
                  <a:ext cx="1428926" cy="31878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sz="1600" dirty="0"/>
                    <a:t>Корень диска</a:t>
                  </a:r>
                  <a:endParaRPr lang="en-US" sz="1600" dirty="0"/>
                </a:p>
              </p:txBody>
            </p:sp>
            <p:sp>
              <p:nvSpPr>
                <p:cNvPr id="31" name="Rectangle 14">
                  <a:extLst>
                    <a:ext uri="{FF2B5EF4-FFF2-40B4-BE49-F238E27FC236}">
                      <a16:creationId xmlns:a16="http://schemas.microsoft.com/office/drawing/2014/main" id="{39CE4359-0CF6-46B2-B00F-6510812BB86B}"/>
                    </a:ext>
                  </a:extLst>
                </p:cNvPr>
                <p:cNvSpPr/>
                <p:nvPr/>
              </p:nvSpPr>
              <p:spPr>
                <a:xfrm>
                  <a:off x="9864053" y="4857716"/>
                  <a:ext cx="1428926" cy="57199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ru-RU" dirty="0"/>
                    <a:t>Данные </a:t>
                  </a:r>
                  <a:r>
                    <a:rPr lang="en-US" dirty="0"/>
                    <a:t>D:</a:t>
                  </a:r>
                </a:p>
              </p:txBody>
            </p:sp>
          </p:grpSp>
          <p:sp>
            <p:nvSpPr>
              <p:cNvPr id="18" name="TextBox 24">
                <a:extLst>
                  <a:ext uri="{FF2B5EF4-FFF2-40B4-BE49-F238E27FC236}">
                    <a16:creationId xmlns:a16="http://schemas.microsoft.com/office/drawing/2014/main" id="{00076EDE-639E-4AA8-980E-61139D7510B4}"/>
                  </a:ext>
                </a:extLst>
              </p:cNvPr>
              <p:cNvSpPr txBox="1"/>
              <p:nvPr/>
            </p:nvSpPr>
            <p:spPr>
              <a:xfrm>
                <a:off x="10540843" y="3307849"/>
                <a:ext cx="849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C</a:t>
                </a:r>
                <a:r>
                  <a:rPr lang="ru-RU" b="1" dirty="0"/>
                  <a:t/>
                </a:r>
                <a:br>
                  <a:rPr lang="ru-RU" b="1" dirty="0"/>
                </a:br>
                <a:endParaRPr lang="en-US" b="1" dirty="0"/>
              </a:p>
            </p:txBody>
          </p:sp>
          <p:sp>
            <p:nvSpPr>
              <p:cNvPr id="19" name="TextBox 25">
                <a:extLst>
                  <a:ext uri="{FF2B5EF4-FFF2-40B4-BE49-F238E27FC236}">
                    <a16:creationId xmlns:a16="http://schemas.microsoft.com/office/drawing/2014/main" id="{ABD57C60-736A-4782-A57F-2793B1A003AE}"/>
                  </a:ext>
                </a:extLst>
              </p:cNvPr>
              <p:cNvSpPr txBox="1"/>
              <p:nvPr/>
            </p:nvSpPr>
            <p:spPr>
              <a:xfrm>
                <a:off x="10540843" y="5373465"/>
                <a:ext cx="923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Диск </a:t>
                </a:r>
                <a:r>
                  <a:rPr lang="en-US" b="1" dirty="0"/>
                  <a:t>D</a:t>
                </a:r>
              </a:p>
            </p:txBody>
          </p:sp>
        </p:grpSp>
        <p:sp>
          <p:nvSpPr>
            <p:cNvPr id="15" name="Правая фигурная скобка 14"/>
            <p:cNvSpPr/>
            <p:nvPr/>
          </p:nvSpPr>
          <p:spPr>
            <a:xfrm>
              <a:off x="9067697" y="2063940"/>
              <a:ext cx="349397" cy="2201439"/>
            </a:xfrm>
            <a:prstGeom prst="rightBrace">
              <a:avLst>
                <a:gd name="adj1" fmla="val 73760"/>
                <a:gd name="adj2" fmla="val 4959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авая фигурная скобка 15"/>
            <p:cNvSpPr/>
            <p:nvPr/>
          </p:nvSpPr>
          <p:spPr>
            <a:xfrm>
              <a:off x="9079658" y="4283611"/>
              <a:ext cx="338328" cy="1878294"/>
            </a:xfrm>
            <a:prstGeom prst="rightBrace">
              <a:avLst>
                <a:gd name="adj1" fmla="val 64189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Rectangle 6">
            <a:extLst>
              <a:ext uri="{FF2B5EF4-FFF2-40B4-BE49-F238E27FC236}">
                <a16:creationId xmlns:a16="http://schemas.microsoft.com/office/drawing/2014/main" id="{EAC00582-6CD3-4532-9FB9-8285954A6F42}"/>
              </a:ext>
            </a:extLst>
          </p:cNvPr>
          <p:cNvSpPr/>
          <p:nvPr/>
        </p:nvSpPr>
        <p:spPr>
          <a:xfrm>
            <a:off x="7413458" y="2071487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7C80"/>
                </a:solidFill>
              </a:rPr>
              <a:t>Boot</a:t>
            </a:r>
            <a:r>
              <a:rPr lang="ru-RU" dirty="0">
                <a:solidFill>
                  <a:srgbClr val="FF7C80"/>
                </a:solidFill>
              </a:rPr>
              <a:t> секция*</a:t>
            </a:r>
            <a:endParaRPr lang="en-US" dirty="0">
              <a:solidFill>
                <a:srgbClr val="FF7C80"/>
              </a:solidFill>
            </a:endParaRPr>
          </a:p>
        </p:txBody>
      </p:sp>
      <p:pic>
        <p:nvPicPr>
          <p:cNvPr id="33" name="Picture 72">
            <a:extLst>
              <a:ext uri="{FF2B5EF4-FFF2-40B4-BE49-F238E27FC236}">
                <a16:creationId xmlns:a16="http://schemas.microsoft.com/office/drawing/2014/main" id="{68D26308-70BC-4E34-8A26-A1159FAC1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596" y="5345733"/>
            <a:ext cx="813995" cy="572721"/>
          </a:xfrm>
          <a:prstGeom prst="rect">
            <a:avLst/>
          </a:prstGeom>
        </p:spPr>
      </p:pic>
      <p:pic>
        <p:nvPicPr>
          <p:cNvPr id="34" name="Picture 75">
            <a:extLst>
              <a:ext uri="{FF2B5EF4-FFF2-40B4-BE49-F238E27FC236}">
                <a16:creationId xmlns:a16="http://schemas.microsoft.com/office/drawing/2014/main" id="{52FB4EFB-7665-445F-978E-4527414E4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640" y="3316807"/>
            <a:ext cx="669985" cy="679355"/>
          </a:xfrm>
          <a:prstGeom prst="rect">
            <a:avLst/>
          </a:prstGeom>
        </p:spPr>
      </p:pic>
      <p:sp>
        <p:nvSpPr>
          <p:cNvPr id="35" name="Rectangle 8">
            <a:extLst>
              <a:ext uri="{FF2B5EF4-FFF2-40B4-BE49-F238E27FC236}">
                <a16:creationId xmlns:a16="http://schemas.microsoft.com/office/drawing/2014/main" id="{863D25CF-FC41-48B3-A6EA-D88B8505FB25}"/>
              </a:ext>
            </a:extLst>
          </p:cNvPr>
          <p:cNvSpPr/>
          <p:nvPr/>
        </p:nvSpPr>
        <p:spPr>
          <a:xfrm>
            <a:off x="7413458" y="2837241"/>
            <a:ext cx="1845469" cy="318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7398360" y="1650171"/>
            <a:ext cx="1853018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0000000000000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76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310</TotalTime>
  <Words>711</Words>
  <Application>Microsoft Office PowerPoint</Application>
  <PresentationFormat>Широкоэкранный</PresentationFormat>
  <Paragraphs>179</Paragraphs>
  <Slides>17</Slides>
  <Notes>1</Notes>
  <HiddenSlides>4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Schoolbook</vt:lpstr>
      <vt:lpstr>Lucida Console</vt:lpstr>
      <vt:lpstr>Wingdings 2</vt:lpstr>
      <vt:lpstr>View</vt:lpstr>
      <vt:lpstr>Компьютерный вирус Michelangelo («March6»)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Michelangelo («March6»)</dc:title>
  <dc:creator>Анна Корр</dc:creator>
  <cp:lastModifiedBy>Анна Корр</cp:lastModifiedBy>
  <cp:revision>39</cp:revision>
  <dcterms:created xsi:type="dcterms:W3CDTF">2023-04-15T14:36:31Z</dcterms:created>
  <dcterms:modified xsi:type="dcterms:W3CDTF">2023-04-16T13:03:34Z</dcterms:modified>
</cp:coreProperties>
</file>